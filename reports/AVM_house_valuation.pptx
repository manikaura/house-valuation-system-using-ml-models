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🏠  Melbourne Automated Valuation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Explainable, uncertainty-aware property pricing — the AVM class behind Zestimate, Redfin and lender valuation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  <a:latin typeface="Calibri"/>
              </a:rPr>
              <a:t>LightGBM + Optuna   ·   Conformal prediction intervals   ·   SHAP explainability   ·  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Manik Kaura — Data Science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The problem — valuation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Banks, insurers, iBuyers and marketplaces must value millions of homes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An Automated Valuation Model (AVM) prices a property from its attributes — no human appraiser per home.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Accurate across a huge range: this market spans $85k to $9M.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Honest about uncertainty: a single number is unsafe for underwriting — decisions need a calibrated range.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Explainable: regulators and customers must see WHY a home was valued as it was.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94960"/>
            <a:ext cx="1060704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Proptech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5376" y="5394960"/>
            <a:ext cx="1563624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Mortgage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1" y="5394960"/>
            <a:ext cx="96012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iBuying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18304" y="5394960"/>
            <a:ext cx="1161288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Insurance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The data — and why it's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Melbourne housing: 13,580 sales × 21 fields. Exactly as messy as real estate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BuildingArea 47% missing, YearBuilt 40%, CouncilArea 10%.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Right-skewed target across two orders of magnitude.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314 suburbs &amp; 200+ postcodes — strongest signal, but a leakage trap.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Outliers &amp; data-entry errors: 0 m² land, impossible build years.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Must serve predictions from RAW inputs, not pre-baked arrays.</a:t>
            </a:r>
          </a:p>
        </p:txBody>
      </p:sp>
      <p:pic>
        <p:nvPicPr>
          <p:cNvPr id="6" name="Picture 5" descr="error_b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394960" cy="31972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Approach &amp; tech-stack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One scikit-learn pipeline: raw property row → dollars + interval +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raw row → ColumnTransformer → LightGBM (log-target) → TransformedTargetRegressor → $  +  interval  + 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log1p(Price) target — proportional error for a skewed, multiplicative quantity.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Median impute + explicit missingness flags (a missing BuildingArea usually means a unit).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One-hot for Type/Method/Region; cross-fitted TargetEncoder for Suburb/Postcode/Council (no leakage).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LightGBM won a 5-model zoo (vs XGBoost, CatBoost, RandomForest, Ridge).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Optuna TPE search — 40 trials over 8 hyperparameters, optimising CV MAE.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Split-conformal intervals for distribution-free, verified-coverage uncertainty.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How each challenge was tackled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Missingness → median impute + *_missing indicators (turn a gap into signal).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Skew → log-target modelling; report both dollar and percentage error.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Location leakage → TargetEncoder cross-fitting; all encoding lives inside the CV pipeline.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Outliers → 0-values treated as missing; land/building capped at the 99.5th percentile.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Train/serve skew → a single Pipeline does clean→encode→predict, identical in training and app.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Trust → conformal range on every quote + SHAP explanation of every driver.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Results — held-out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Untouched 20% split; intervals calibrated on a separate fold.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0312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64748B"/>
                </a:solidFill>
              </a:rPr>
              <a:t>R²</a:t>
            </a:r>
          </a:p>
          <a:p>
            <a:pPr algn="ctr"/>
            <a:r>
              <a:rPr sz="2400" b="1">
                <a:solidFill>
                  <a:srgbClr val="1E3A8A"/>
                </a:solidFill>
              </a:rPr>
              <a:t>0.848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828800"/>
            <a:ext cx="210312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64748B"/>
                </a:solidFill>
              </a:rPr>
              <a:t>MAPE</a:t>
            </a:r>
          </a:p>
          <a:p>
            <a:pPr algn="ctr"/>
            <a:r>
              <a:rPr sz="2400" b="1">
                <a:solidFill>
                  <a:srgbClr val="1E3A8A"/>
                </a:solidFill>
              </a:rPr>
              <a:t>13.2%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5504" y="1828800"/>
            <a:ext cx="210312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64748B"/>
                </a:solidFill>
              </a:rPr>
              <a:t>Median APE</a:t>
            </a:r>
          </a:p>
          <a:p>
            <a:pPr algn="ctr"/>
            <a:r>
              <a:rPr sz="2400" b="1">
                <a:solidFill>
                  <a:srgbClr val="1E3A8A"/>
                </a:solidFill>
              </a:rPr>
              <a:t>9.9%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43216" y="1828800"/>
            <a:ext cx="210312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64748B"/>
                </a:solidFill>
              </a:rPr>
              <a:t>MAE</a:t>
            </a:r>
          </a:p>
          <a:p>
            <a:pPr algn="ctr"/>
            <a:r>
              <a:rPr sz="2400" b="1">
                <a:solidFill>
                  <a:srgbClr val="1E3A8A"/>
                </a:solidFill>
              </a:rPr>
              <a:t>$148,216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0928" y="1828800"/>
            <a:ext cx="210312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64748B"/>
                </a:solidFill>
              </a:rPr>
              <a:t>90% PI coverage</a:t>
            </a:r>
          </a:p>
          <a:p>
            <a:pPr algn="ctr"/>
            <a:r>
              <a:rPr sz="2400" b="1">
                <a:solidFill>
                  <a:srgbClr val="1E3A8A"/>
                </a:solidFill>
              </a:rPr>
              <a:t>90.2%</a:t>
            </a:r>
          </a:p>
        </p:txBody>
      </p:sp>
      <p:pic>
        <p:nvPicPr>
          <p:cNvPr id="10" name="Picture 9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83280"/>
            <a:ext cx="2973788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Explainability —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Global drivers and a per-property breakdown power the demo's 'why this valuation?'</a:t>
            </a:r>
          </a:p>
        </p:txBody>
      </p:sp>
      <p:pic>
        <p:nvPicPr>
          <p:cNvPr id="5" name="Picture 4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478456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Type (house vs unit) and distance to the CBD dominate.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Postcode &amp; suburb encode fine-grained location value.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Land size and bathrooms add property-level detail.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Per-prediction: each factor shown as a ± % effect on that home's price.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A bright, interactive Streamlit demo + a reproducible modelling pipeline.</a:t>
            </a:r>
          </a:p>
        </p:txBody>
      </p:sp>
      <p:pic>
        <p:nvPicPr>
          <p:cNvPr id="5" name="Picture 4" descr="demo_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949440" cy="482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Enter a property → instant valuation.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Calibrated 80/90% price range.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'Why this valuation?' SHAP drivers.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Model-performance dashboard page.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Modular src/ pipeline, one-command retrain.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