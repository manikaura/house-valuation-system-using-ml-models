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🏠  Automated Valuation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38328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  <a:latin typeface="Calibri"/>
              </a:rPr>
              <a:t>Explainable, uncertainty-aware residential property valuation — the AVM class behind Zestimate, Redfin and lender pricing engines.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Calibri"/>
              </a:rPr>
              <a:t>LightGBM + Optuna · SHAP · conformal prediction intervals ·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Manik Kaura — Data Science portfolio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201168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E3A8A"/>
                </a:solidFill>
                <a:latin typeface="Calibri"/>
              </a:rPr>
              <a:t>Value millions of homes, instantly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Banks, insurers, iBuyers and marketplaces need an instant price for every home — no human appraiser per property.</a:t>
            </a:r>
          </a:p>
          <a:p>
            <a:pPr>
              <a:spcAft>
                <a:spcPts val="15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Accuracy must hold across a wide range (this market: $85k → $9M).</a:t>
            </a:r>
          </a:p>
          <a:p>
            <a:pPr>
              <a:spcAft>
                <a:spcPts val="15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A single number is unsafe for underwriting — decisions need a calibrated range.</a:t>
            </a:r>
          </a:p>
          <a:p>
            <a:pPr>
              <a:spcAft>
                <a:spcPts val="15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Regulators and customers require knowing WHY a home was valued as it was.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201168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APPROACH · LOGIC ·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E3A8A"/>
                </a:solidFill>
                <a:latin typeface="Calibri"/>
              </a:rPr>
              <a:t>One pipeline: raw row → $ + interval +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Model log(price) — proportional error for a skewed, multiplicative quantity.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Median impute + missingness flags (a missing BuildingArea usually means a unit).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One-hot for type/method/region; cross-fitted TargetEncoder for suburb/postcode (no leakage).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LightGBM won a 5-model zoo (vs XGBoost, CatBoost, RandomForest, Ridge).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Optuna TPE tuning over 8 hyperparameters; held-out test evaluation.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Split-conformal prediction intervals + SHAP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82880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Calibri"/>
              </a:rPr>
              <a:t>TECH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219456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Python · pandas · NumPy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scikit-learn pipelines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LightGBM / XGBoost / CatBoost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Optuna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SHAP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Streamlit · Plotly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201168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E3A8A"/>
                </a:solidFill>
                <a:latin typeface="Calibri"/>
              </a:rPr>
              <a:t>What drives a 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Property type (house vs unit) and distance to the CBD dominate.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Postcode &amp; suburb encode fine-grained location value.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Land size and bathrooms add property-level detail.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Missingness is itself signal — flagged, not dropped.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Per-prediction SHAP shows each factor as a ± % effect on that home.</a:t>
            </a:r>
          </a:p>
        </p:txBody>
      </p:sp>
      <p:pic>
        <p:nvPicPr>
          <p:cNvPr id="6" name="Picture 5" descr="shap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37360"/>
            <a:ext cx="4784565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201168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MODEL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E3A8A"/>
                </a:solidFill>
                <a:latin typeface="Calibri"/>
              </a:rPr>
              <a:t>Held-out test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1280160"/>
          </a:xfrm>
          <a:prstGeom prst="roundRect">
            <a:avLst/>
          </a:prstGeom>
          <a:solidFill>
            <a:srgbClr val="FBF7EE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64748B"/>
                </a:solidFill>
              </a:rPr>
              <a:t>R²</a:t>
            </a:r>
          </a:p>
          <a:p>
            <a:pPr algn="ctr"/>
            <a:r>
              <a:rPr sz="2300" b="1">
                <a:solidFill>
                  <a:srgbClr val="1E3A8A"/>
                </a:solidFill>
              </a:rPr>
              <a:t>0.848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1" y="1828800"/>
            <a:ext cx="2103120" cy="1280160"/>
          </a:xfrm>
          <a:prstGeom prst="roundRect">
            <a:avLst/>
          </a:prstGeom>
          <a:solidFill>
            <a:srgbClr val="FBF7EE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64748B"/>
                </a:solidFill>
              </a:rPr>
              <a:t>MAPE</a:t>
            </a:r>
          </a:p>
          <a:p>
            <a:pPr algn="ctr"/>
            <a:r>
              <a:rPr sz="2300" b="1">
                <a:solidFill>
                  <a:srgbClr val="1E3A8A"/>
                </a:solidFill>
              </a:rPr>
              <a:t>13.2%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5504" y="1828800"/>
            <a:ext cx="2103120" cy="1280160"/>
          </a:xfrm>
          <a:prstGeom prst="roundRect">
            <a:avLst/>
          </a:prstGeom>
          <a:solidFill>
            <a:srgbClr val="FBF7EE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64748B"/>
                </a:solidFill>
              </a:rPr>
              <a:t>Median APE</a:t>
            </a:r>
          </a:p>
          <a:p>
            <a:pPr algn="ctr"/>
            <a:r>
              <a:rPr sz="2300" b="1">
                <a:solidFill>
                  <a:srgbClr val="1E3A8A"/>
                </a:solidFill>
              </a:rPr>
              <a:t>9.9%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43216" y="1828800"/>
            <a:ext cx="2103120" cy="1280160"/>
          </a:xfrm>
          <a:prstGeom prst="roundRect">
            <a:avLst/>
          </a:prstGeom>
          <a:solidFill>
            <a:srgbClr val="FBF7EE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64748B"/>
                </a:solidFill>
              </a:rPr>
              <a:t>MAE</a:t>
            </a:r>
          </a:p>
          <a:p>
            <a:pPr algn="ctr"/>
            <a:r>
              <a:rPr sz="2300" b="1">
                <a:solidFill>
                  <a:srgbClr val="1E3A8A"/>
                </a:solidFill>
              </a:rPr>
              <a:t>$148,216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10928" y="1828800"/>
            <a:ext cx="2103120" cy="1280160"/>
          </a:xfrm>
          <a:prstGeom prst="roundRect">
            <a:avLst/>
          </a:prstGeom>
          <a:solidFill>
            <a:srgbClr val="FBF7EE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64748B"/>
                </a:solidFill>
              </a:rPr>
              <a:t>90% PI coverage</a:t>
            </a:r>
          </a:p>
          <a:p>
            <a:pPr algn="ctr"/>
            <a:r>
              <a:rPr sz="2300" b="1">
                <a:solidFill>
                  <a:srgbClr val="1E3A8A"/>
                </a:solidFill>
              </a:rPr>
              <a:t>90.2%</a:t>
            </a:r>
          </a:p>
        </p:txBody>
      </p:sp>
      <p:pic>
        <p:nvPicPr>
          <p:cNvPr id="10" name="Picture 9" descr="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3383280"/>
            <a:ext cx="2973788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201168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RECOMMENDATIONS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E3A8A"/>
                </a:solidFill>
                <a:latin typeface="Calibri"/>
              </a:rPr>
              <a:t>From valuation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Instant, explainable valuations for pricing, lending and portfolio monitoring.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Prediction intervals let underwriting act on risk, not just a point estimate.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SHAP explanations support regulatory/customer transparency requirements.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Median error ~10% with calibrated 90% coverage — decision-ready out of the box.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Extend with time (sale-date) trends, geospatial features and comparable-sales signals.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